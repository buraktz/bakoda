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C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640080"/>
            <a:ext cx="1554480" cy="411480"/>
          </a:xfrm>
          <a:prstGeom prst="roundRect">
            <a:avLst>
              <a:gd name="adj" fmla="val 48889"/>
            </a:avLst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0" y="64008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KONU #15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Bakoda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731520" y="315468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Oda Rezervasyonu için Uçtan Uca Test ve Dağıtım Pipeline'ı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77240" y="4114800"/>
            <a:ext cx="38404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2976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MTH2526-B25 — Bulut Mimarilerinde Test Mühendisliği
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Marmara Üniversitesi · 2025–2026 Bahar
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Grup: Arif Batuhan Bahar · Burak Tuzcu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PROBLEM VE ÇÖZÜM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Neden bir test pipeline'ı?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03520" cy="3657600"/>
          </a:xfrm>
          <a:prstGeom prst="roundRect">
            <a:avLst>
              <a:gd name="adj" fmla="val 2000"/>
            </a:avLst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76200" dist="25400" dir="5400000">
              <a:srgbClr val="9AB0BF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745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rezervasyonunda müsaitlik, çakışma ve onay belgesi kritiktir.
</a:t>
            </a:r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oda/tarih çift-rezervasyonu, hatalı durum geçişleri ve sessiz veri kaybı production'da pahalıdır.
</a:t>
            </a:r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 test ölçeklenmez → otomasyon ve gözlemlenebilirlik şarttır.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53912" y="1691640"/>
            <a:ext cx="5486400" cy="3657600"/>
          </a:xfrm>
          <a:prstGeom prst="roundRect">
            <a:avLst>
              <a:gd name="adj" fmla="val 2000"/>
            </a:avLst>
          </a:prstGeom>
          <a:solidFill>
            <a:srgbClr val="0F2C44"/>
          </a:solidFill>
          <a:ln/>
          <a:effectLst>
            <a:outerShdw sx="100000" sy="100000" kx="0" ky="0" algn="bl" rotWithShape="0" blurRad="76200" dist="25400" dir="5400000">
              <a:srgbClr val="9AB0BF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28232" y="18745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 — Bakoda (FastAPI)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28232" y="2240280"/>
            <a:ext cx="4983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Otel/oda ara, müsaitlik kontrol et, rezervasyon oluştur · güncelle · iptal et.
</a:t>
            </a:r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Onay belgesi LocalStack S3'e yazılır; auth, favoriler, ödeme ve iletişim uçları kalıcıdır.
</a:t>
            </a:r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Basit React UI üzerinden tam test / deploy / monitoring yığını.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557784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motivasyonu: Arif — UI ve test piramidi (QA odağı); Burak — backend, altyapı ve gözlemlenebilirlik (DevOps odağı).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MIMARI DIYAGRAM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Tüm bileşenler tek bakışta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76200" dist="25400" dir="5400000">
              <a:srgbClr val="9AB0BF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947672"/>
            <a:ext cx="73152" cy="1225296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94767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350008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Uvicorn · 34 uç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 · /health · /metrics · /docs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15968" y="178308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76200" dist="25400" dir="5400000">
              <a:srgbClr val="9AB0BF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15968" y="1947672"/>
            <a:ext cx="73152" cy="1225296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194767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Veritabanı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72000" y="2350008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· SQLAlchemy 2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Alembic (5 migration)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83296" y="178308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76200" dist="25400" dir="5400000">
              <a:srgbClr val="9AB0BF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83296" y="1947672"/>
            <a:ext cx="73152" cy="1225296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8339328" y="194767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 Storage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39328" y="2350008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LocalStack S3 + boto3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bakoda-confirmations bucket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593592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76200" dist="25400" dir="5400000">
              <a:srgbClr val="9AB0BF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758184"/>
            <a:ext cx="73152" cy="1225296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04672" y="4160520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Minikube · 2 replica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+ Service + ConfigMap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15968" y="3593592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76200" dist="25400" dir="5400000">
              <a:srgbClr val="9AB0BF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15968" y="3758184"/>
            <a:ext cx="73152" cy="1225296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3758184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Monitoring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572000" y="4160520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→ Grafana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panel + /metrics scrape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83296" y="3593592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76200" dist="25400" dir="5400000">
              <a:srgbClr val="9AB0BF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83296" y="3758184"/>
            <a:ext cx="73152" cy="1225296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8339328" y="3758184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Tracing (bonus +5)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339328" y="4160520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→ Jaeger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SQLAlchemy span'leri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48640" y="589788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Akış:  İstemci (React · Playwright · k6 · Newman) → API → PostgreSQL · S3   |   /metrics → Prometheus → Grafana   |   OTLP → Jaeger      ·      Tam diyagram: docs/architecture.png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TEST STRATEJISI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piramidi: 290 test fonksiyonu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630359" cy="868680"/>
          </a:xfrm>
          <a:prstGeom prst="roundRect">
            <a:avLst>
              <a:gd name="adj" fmla="val 6316"/>
            </a:avLst>
          </a:prstGeom>
          <a:solidFill>
            <a:srgbClr val="0F2C4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920240"/>
            <a:ext cx="2356039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E2E  </a:t>
            </a:r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407599" y="192024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· API + UI akışları (3 dosya)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108960"/>
            <a:ext cx="8046720" cy="868680"/>
          </a:xfrm>
          <a:prstGeom prst="roundRect">
            <a:avLst>
              <a:gd name="adj" fmla="val 6316"/>
            </a:avLst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108960"/>
            <a:ext cx="7772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Integration  </a:t>
            </a:r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823960" y="310896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pytest-asyncio + httpx + Testcontainers PG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4297680"/>
            <a:ext cx="7252943" cy="868680"/>
          </a:xfrm>
          <a:prstGeom prst="roundRect">
            <a:avLst>
              <a:gd name="adj" fmla="val 6316"/>
            </a:avLst>
          </a:prstGeom>
          <a:solidFill>
            <a:srgbClr val="0F2C4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4297680"/>
            <a:ext cx="6978623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Unit  </a:t>
            </a:r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124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030183" y="429768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servisler · yardımcılar · şema doğrulama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98280" y="1920240"/>
            <a:ext cx="2542032" cy="3200400"/>
          </a:xfrm>
          <a:prstGeom prst="roundRect">
            <a:avLst>
              <a:gd name="adj" fmla="val 2878"/>
            </a:avLst>
          </a:prstGeom>
          <a:solidFill>
            <a:srgbClr val="0F2C44"/>
          </a:solidFill>
          <a:ln/>
          <a:effectLst>
            <a:outerShdw sx="100000" sy="100000" kx="0" ky="0" algn="bl" rotWithShape="0" blurRad="76200" dist="25400" dir="5400000">
              <a:srgbClr val="9AB0BF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98280" y="2148840"/>
            <a:ext cx="2542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098280" y="2468880"/>
            <a:ext cx="254203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%98.5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9098280" y="3611880"/>
            <a:ext cx="25420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 ≥ %70</a:t>
            </a:r>
            <a:endParaRPr lang="en-US" sz="1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(fail_under = 70)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098280" y="4434840"/>
            <a:ext cx="25420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277 test geçer · 0 hata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6E7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Boy + Faker ile test verisi · Postman 7 istek → Newman · öne çıkan: 409 çift-rezervasyon, iptal sonrası müsaitlik, ownership, ödeme/iletişim kalıcılığı.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CI/CD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Actions: lint → test → build → deploy → smoke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1993392" cy="1371600"/>
          </a:xfrm>
          <a:prstGeom prst="roundRect">
            <a:avLst>
              <a:gd name="adj" fmla="val 6667"/>
            </a:avLst>
          </a:prstGeom>
          <a:solidFill>
            <a:srgbClr val="0F2C44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944368"/>
            <a:ext cx="1993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(E·F·I)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523744" y="2194560"/>
            <a:ext cx="29260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834640" y="2194560"/>
            <a:ext cx="1993392" cy="1371600"/>
          </a:xfrm>
          <a:prstGeom prst="roundRect">
            <a:avLst>
              <a:gd name="adj" fmla="val 6667"/>
            </a:avLst>
          </a:prstGeom>
          <a:solidFill>
            <a:srgbClr val="0F2C44"/>
          </a:solidFill>
          <a:ln/>
        </p:spPr>
      </p:sp>
      <p:sp>
        <p:nvSpPr>
          <p:cNvPr id="10" name="Text 8"/>
          <p:cNvSpPr/>
          <p:nvPr/>
        </p:nvSpPr>
        <p:spPr>
          <a:xfrm>
            <a:off x="2944368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834640" y="2560320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834640" y="2944368"/>
            <a:ext cx="1993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</a:t>
            </a: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 ≥70%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09744" y="2194560"/>
            <a:ext cx="29260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5120640" y="2194560"/>
            <a:ext cx="1993392" cy="1371600"/>
          </a:xfrm>
          <a:prstGeom prst="roundRect">
            <a:avLst>
              <a:gd name="adj" fmla="val 6667"/>
            </a:avLst>
          </a:prstGeom>
          <a:solidFill>
            <a:srgbClr val="0F2C44"/>
          </a:solidFill>
          <a:ln/>
        </p:spPr>
      </p:sp>
      <p:sp>
        <p:nvSpPr>
          <p:cNvPr id="15" name="Text 13"/>
          <p:cNvSpPr/>
          <p:nvPr/>
        </p:nvSpPr>
        <p:spPr>
          <a:xfrm>
            <a:off x="5230368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120640" y="2560320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120640" y="2944368"/>
            <a:ext cx="1993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095744" y="2194560"/>
            <a:ext cx="29260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7406640" y="2194560"/>
            <a:ext cx="1993392" cy="1371600"/>
          </a:xfrm>
          <a:prstGeom prst="roundRect">
            <a:avLst>
              <a:gd name="adj" fmla="val 6667"/>
            </a:avLst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7516368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406640" y="2560320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406640" y="2944368"/>
            <a:ext cx="1993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0F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Minikube</a:t>
            </a: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0F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apply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381744" y="2194560"/>
            <a:ext cx="29260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9692640" y="2194560"/>
            <a:ext cx="1993392" cy="1371600"/>
          </a:xfrm>
          <a:prstGeom prst="roundRect">
            <a:avLst>
              <a:gd name="adj" fmla="val 6667"/>
            </a:avLst>
          </a:prstGeom>
          <a:solidFill>
            <a:srgbClr val="0F2C44"/>
          </a:solidFill>
          <a:ln/>
        </p:spPr>
      </p:sp>
      <p:sp>
        <p:nvSpPr>
          <p:cNvPr id="25" name="Text 23"/>
          <p:cNvSpPr/>
          <p:nvPr/>
        </p:nvSpPr>
        <p:spPr>
          <a:xfrm>
            <a:off x="9802368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692640" y="2560320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SMOKE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692640" y="2944368"/>
            <a:ext cx="1993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</a:t>
            </a: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Newman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48640" y="406908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F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stratejisi:  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Minikube'de gerçek k8s deploy — image yüklenir, manifestler uygulanır, kubectl rollout status beklenir, ardından servise /health smoke. 2 replica ile rolling update; readiness geçmeden trafik yok. Rollback: kubectl rollout undo.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repo ruff lint temiz · 277 test yeşil · build &amp; deploy demoda canlı gösterilir.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MONITORING &amp; OBSERVABILITY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Prometheus + Grafana — 3 panel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57600" cy="2468880"/>
          </a:xfrm>
          <a:prstGeom prst="roundRect">
            <a:avLst>
              <a:gd name="adj" fmla="val 2963"/>
            </a:avLst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76200" dist="25400" dir="5400000">
              <a:srgbClr val="9AB0BF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0116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2514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Request Latency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 / p95 / p99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histogram_quantile üzerinden gecikme dağılımı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828800"/>
            <a:ext cx="3657600" cy="2468880"/>
          </a:xfrm>
          <a:prstGeom prst="roundRect">
            <a:avLst>
              <a:gd name="adj" fmla="val 2963"/>
            </a:avLst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76200" dist="25400" dir="5400000">
              <a:srgbClr val="9AB0BF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17720" y="20116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17720" y="2514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Error Rate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1772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5xx / toplam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17720" y="324612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hata oranı zaman serisi (yük altında %0)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0" y="1828800"/>
            <a:ext cx="3657600" cy="2468880"/>
          </a:xfrm>
          <a:prstGeom prst="roundRect">
            <a:avLst>
              <a:gd name="adj" fmla="val 2963"/>
            </a:avLst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76200" dist="25400" dir="5400000">
              <a:srgbClr val="9AB0BF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58200" y="20116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458200" y="2514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Throughput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5820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req/s (handler)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58200" y="324612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uç bazında istek hızı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617720"/>
            <a:ext cx="11091672" cy="1188720"/>
          </a:xfrm>
          <a:prstGeom prst="roundRect">
            <a:avLst>
              <a:gd name="adj" fmla="val 6154"/>
            </a:avLst>
          </a:prstGeom>
          <a:solidFill>
            <a:srgbClr val="0F2C44"/>
          </a:solidFill>
          <a:ln/>
          <a:effectLst>
            <a:outerShdw sx="100000" sy="100000" kx="0" ky="0" algn="bl" rotWithShape="0" blurRad="76200" dist="25400" dir="5400000">
              <a:srgbClr val="9AB0BF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4846320"/>
            <a:ext cx="105430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— OpenTelemetry → Jaeger: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ve SQLAlchemy otomatik enstrümantasyonu; OTLP gRPC ile span'ler Jaeger UI'da (:16686). Bir config bayrağı ile açılıp kapanır (testte kapalı). Latency spike'ında ilgili SQL/booking span'ine inilir.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C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B213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SAYILAR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Projeyi anlatan rakamlar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679192" cy="1920240"/>
          </a:xfrm>
          <a:prstGeom prst="roundRect">
            <a:avLst>
              <a:gd name="adj" fmla="val 3810"/>
            </a:avLst>
          </a:prstGeom>
          <a:solidFill>
            <a:srgbClr val="16395A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92808"/>
            <a:ext cx="24963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%98.5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85800" y="2788920"/>
            <a:ext cx="2404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coverage (hedef ≥70)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83864" y="1600200"/>
            <a:ext cx="2679192" cy="1920240"/>
          </a:xfrm>
          <a:prstGeom prst="roundRect">
            <a:avLst>
              <a:gd name="adj" fmla="val 3810"/>
            </a:avLst>
          </a:prstGeom>
          <a:solidFill>
            <a:srgbClr val="16395A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75304" y="1892808"/>
            <a:ext cx="24963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277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3621024" y="2788920"/>
            <a:ext cx="2404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+ integration testi · 0 hata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19088" y="1600200"/>
            <a:ext cx="2679192" cy="1920240"/>
          </a:xfrm>
          <a:prstGeom prst="roundRect">
            <a:avLst>
              <a:gd name="adj" fmla="val 3810"/>
            </a:avLst>
          </a:prstGeom>
          <a:solidFill>
            <a:srgbClr val="16395A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10528" y="1892808"/>
            <a:ext cx="24963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290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6556248" y="2788920"/>
            <a:ext cx="2404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test fonksiyonu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354312" y="1600200"/>
            <a:ext cx="2679192" cy="1920240"/>
          </a:xfrm>
          <a:prstGeom prst="roundRect">
            <a:avLst>
              <a:gd name="adj" fmla="val 3810"/>
            </a:avLst>
          </a:prstGeom>
          <a:solidFill>
            <a:srgbClr val="16395A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445752" y="1892808"/>
            <a:ext cx="24963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465 ms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9491472" y="2788920"/>
            <a:ext cx="2404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 p95 latency (&lt;500 ms)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794760"/>
            <a:ext cx="2679192" cy="1920240"/>
          </a:xfrm>
          <a:prstGeom prst="roundRect">
            <a:avLst>
              <a:gd name="adj" fmla="val 3810"/>
            </a:avLst>
          </a:prstGeom>
          <a:solidFill>
            <a:srgbClr val="16395A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087368"/>
            <a:ext cx="24963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34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685800" y="4983480"/>
            <a:ext cx="2404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ucu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483864" y="3794760"/>
            <a:ext cx="2679192" cy="1920240"/>
          </a:xfrm>
          <a:prstGeom prst="roundRect">
            <a:avLst>
              <a:gd name="adj" fmla="val 3810"/>
            </a:avLst>
          </a:prstGeom>
          <a:solidFill>
            <a:srgbClr val="16395A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75304" y="4087368"/>
            <a:ext cx="24963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0%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3621024" y="4983480"/>
            <a:ext cx="2404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 hata oranı · 4756 istek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19088" y="3794760"/>
            <a:ext cx="2679192" cy="1920240"/>
          </a:xfrm>
          <a:prstGeom prst="roundRect">
            <a:avLst>
              <a:gd name="adj" fmla="val 3810"/>
            </a:avLst>
          </a:prstGeom>
          <a:solidFill>
            <a:srgbClr val="16395A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10528" y="4087368"/>
            <a:ext cx="24963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6556248" y="4983480"/>
            <a:ext cx="2404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paneli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354312" y="3794760"/>
            <a:ext cx="2679192" cy="1920240"/>
          </a:xfrm>
          <a:prstGeom prst="roundRect">
            <a:avLst>
              <a:gd name="adj" fmla="val 3810"/>
            </a:avLst>
          </a:prstGeom>
          <a:solidFill>
            <a:srgbClr val="16395A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45752" y="4087368"/>
            <a:ext cx="24963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+5</a:t>
            </a:r>
            <a:endParaRPr lang="en-US" sz="3800" dirty="0"/>
          </a:p>
        </p:txBody>
      </p:sp>
      <p:sp>
        <p:nvSpPr>
          <p:cNvPr id="28" name="Text 26"/>
          <p:cNvSpPr/>
          <p:nvPr/>
        </p:nvSpPr>
        <p:spPr>
          <a:xfrm>
            <a:off x="9491472" y="4983480"/>
            <a:ext cx="2404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bonus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C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ÖĞRENDIKLERIM VE ZORLUKLAR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 hatırda kalan 3'er madde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ÖĞRENİLEN DERSLER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53949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Testcontainers ile gerçek PostgreSQL — mock'tan daha güvenilir integration testi.
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Birim testte async/senkron mock ayrımı — AsyncMock'ın .add()'te coroutine sızdırması.
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 + trace birlikte — latency spike'ında doğrudan span'e inmek.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0" y="17373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ZORLUKLAR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0" y="2103120"/>
            <a:ext cx="5257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SQLAlchemy + fixture yaşam döngüsü ile test izolasyonu.
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gürültüsü: OpenTelemetry'yi test ortamında kapatıp temiz çıktı almak.
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CI'da gerçek Minikube deploy: app açılışta migration koştuğu için PG'yi cluster içinde ayağa kaldırmak.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440680"/>
            <a:ext cx="11091672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56235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Teşekkürler — Sorular?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858000" y="58064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Repo: README · docs/final-report.pdf · docs/architecture.png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2026-06-02T13:04:13Z</dcterms:created>
  <dcterms:modified xsi:type="dcterms:W3CDTF">2026-06-02T13:04:13Z</dcterms:modified>
</cp:coreProperties>
</file>